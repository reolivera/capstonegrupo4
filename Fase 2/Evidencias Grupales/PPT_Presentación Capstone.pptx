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Lato" panose="020F0502020204030203" pitchFamily="34" charset="0"/>
      <p:bold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iZf3RWacrf+lDMGhjb22r3XHx+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8" d="100"/>
          <a:sy n="68" d="100"/>
        </p:scale>
        <p:origin x="-53" y="-4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537eeca99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39537eeca9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537eeca99_1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9537eeca99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537eeca99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537eeca99_1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39537eeca99_1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537eeca99_1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9537eeca99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537eeca99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39537eeca99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537eeca99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537eeca99_1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39537eeca99_1_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537eeca99_1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9537eeca99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537eeca99_1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9537eeca99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537eeca99_1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g39537eeca99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537eeca99_1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9537eeca99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537eeca99_1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9537eeca99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236310" y="9639953"/>
            <a:ext cx="3446997" cy="647047"/>
          </a:xfrm>
          <a:custGeom>
            <a:avLst/>
            <a:gdLst/>
            <a:ahLst/>
            <a:cxnLst/>
            <a:rect l="l" t="t" r="r" b="b"/>
            <a:pathLst>
              <a:path w="3446997" h="647047" extrusionOk="0">
                <a:moveTo>
                  <a:pt x="0" y="0"/>
                </a:moveTo>
                <a:lnTo>
                  <a:pt x="3446997" y="0"/>
                </a:lnTo>
                <a:lnTo>
                  <a:pt x="3446997" y="647047"/>
                </a:lnTo>
                <a:lnTo>
                  <a:pt x="0" y="647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028700" y="1028700"/>
            <a:ext cx="3478209" cy="776800"/>
          </a:xfrm>
          <a:custGeom>
            <a:avLst/>
            <a:gdLst/>
            <a:ahLst/>
            <a:cxnLst/>
            <a:rect l="l" t="t" r="r" b="b"/>
            <a:pathLst>
              <a:path w="3478209" h="776800" extrusionOk="0">
                <a:moveTo>
                  <a:pt x="0" y="0"/>
                </a:moveTo>
                <a:lnTo>
                  <a:pt x="3478209" y="0"/>
                </a:lnTo>
                <a:lnTo>
                  <a:pt x="3478209" y="776800"/>
                </a:lnTo>
                <a:lnTo>
                  <a:pt x="0" y="776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 rot="-5400000">
            <a:off x="9030089" y="-9030091"/>
            <a:ext cx="227823" cy="18288002"/>
          </a:xfrm>
          <a:custGeom>
            <a:avLst/>
            <a:gdLst/>
            <a:ahLst/>
            <a:cxnLst/>
            <a:rect l="l" t="t" r="r" b="b"/>
            <a:pathLst>
              <a:path w="587437" h="5624919" extrusionOk="0">
                <a:moveTo>
                  <a:pt x="0" y="0"/>
                </a:moveTo>
                <a:lnTo>
                  <a:pt x="587437" y="0"/>
                </a:lnTo>
                <a:lnTo>
                  <a:pt x="587437" y="5624919"/>
                </a:lnTo>
                <a:lnTo>
                  <a:pt x="0" y="5624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943447" t="-3432" r="-23081924" b="-2158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460375" y="1894725"/>
            <a:ext cx="8950800" cy="90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Informe Avance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“Sitio Web Responsive para Clínica Veterinaria Pucará”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Docente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Marcela Orellana Silva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Equipo alumnos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Grupo 4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Jonathan Palma Ulloa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Renato Olivera Núñez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Sergio Valdivia Herrera.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Duoc UC Sede San Bernardo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Carrera: Ingeniería en Informática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Año: 2025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" descr="SummIT Ciberseguridad 2022 – Duoc UC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1665" y="399297"/>
            <a:ext cx="4648200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537eeca99_1_0"/>
          <p:cNvSpPr txBox="1"/>
          <p:nvPr/>
        </p:nvSpPr>
        <p:spPr>
          <a:xfrm>
            <a:off x="1994244" y="2171700"/>
            <a:ext cx="47823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ES" sz="33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Problema o Necesidad detectada</a:t>
            </a:r>
            <a:endParaRPr sz="33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g39537eeca99_1_0"/>
          <p:cNvSpPr txBox="1"/>
          <p:nvPr/>
        </p:nvSpPr>
        <p:spPr>
          <a:xfrm>
            <a:off x="1996103" y="3810893"/>
            <a:ext cx="4782300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Actualmente, la Veterinaria Pucará gestiona sus procesos de forma manual en: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Planillas excel, comunicación telefónica para registrar citas, fichas clínicas y ventas.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Esto provoca pérdida de tiempo, duplicidad de registros y dificultad para acceder al historial de cada mascota. </a:t>
            </a:r>
            <a:endParaRPr/>
          </a:p>
        </p:txBody>
      </p:sp>
      <p:pic>
        <p:nvPicPr>
          <p:cNvPr id="99" name="Google Shape;99;g39537eeca99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72575" y="2426050"/>
            <a:ext cx="8157875" cy="543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537eeca99_1_5"/>
          <p:cNvSpPr txBox="1"/>
          <p:nvPr/>
        </p:nvSpPr>
        <p:spPr>
          <a:xfrm>
            <a:off x="1994244" y="2171700"/>
            <a:ext cx="47823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3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Propuesta</a:t>
            </a:r>
            <a:endParaRPr sz="33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g39537eeca99_1_5"/>
          <p:cNvSpPr txBox="1"/>
          <p:nvPr/>
        </p:nvSpPr>
        <p:spPr>
          <a:xfrm>
            <a:off x="1996103" y="3810893"/>
            <a:ext cx="4782300" cy="42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web moderna que centralice los procesos clínicos y administrativos de la Veterinaria Pucará, permitiendo: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73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clientes y mascotas.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73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Agendar y gestionar citas.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73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Emitir fichas clínicas y recetas digitales.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73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Controlar el stock de productos veterinarios.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g39537eeca99_1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9300" y="1491894"/>
            <a:ext cx="9193075" cy="730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g39537eeca99_1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3648" y="1112663"/>
            <a:ext cx="10031351" cy="806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537eeca99_1_12"/>
          <p:cNvSpPr txBox="1"/>
          <p:nvPr/>
        </p:nvSpPr>
        <p:spPr>
          <a:xfrm>
            <a:off x="1994244" y="2171700"/>
            <a:ext cx="47823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3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Impacto y beneficiarios</a:t>
            </a:r>
            <a:endParaRPr sz="33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g39537eeca99_1_12"/>
          <p:cNvSpPr txBox="1"/>
          <p:nvPr/>
        </p:nvSpPr>
        <p:spPr>
          <a:xfrm>
            <a:off x="1994253" y="3050943"/>
            <a:ext cx="4782300" cy="50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Beneficiados: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Clínica Veterinaria Pucará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Profesionales veterinarios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Clientes de la veterinaria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Impacto: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Reducción del tiempo de registro en un 40 %.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Disminución de errores en fichas médicas y cálculos de honorarios.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 en la satisfacción y fidelización de clientes.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g39537eeca99_1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30150" y="1181250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9537eeca99_1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56100" y="4211200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9537eeca99_1_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56100" y="7241150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537eeca99_1_17"/>
          <p:cNvSpPr txBox="1"/>
          <p:nvPr/>
        </p:nvSpPr>
        <p:spPr>
          <a:xfrm>
            <a:off x="1994244" y="2171700"/>
            <a:ext cx="47823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ES" sz="33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Resultados esperados y Estado actual</a:t>
            </a:r>
            <a:endParaRPr sz="33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g39537eeca99_1_17"/>
          <p:cNvSpPr txBox="1"/>
          <p:nvPr/>
        </p:nvSpPr>
        <p:spPr>
          <a:xfrm>
            <a:off x="1994253" y="3428993"/>
            <a:ext cx="4782300" cy="57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Avances: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 del modelo entidad–relación en PostgreSQL.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AS-IS / TO-BE en Bizagi.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backend inicial (Spring Boot).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frontend inicial(React Vite).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Tablero Kanban.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esperados: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web operativo que permita gestionar citas, fichas y stock.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Validación funcional junto a la clínica durante el tercer sprint.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(modelo ER)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g39537eeca99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9183" y="2518575"/>
            <a:ext cx="8176375" cy="524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39537eeca99_1_58" title="Untitled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1400" y="-239700"/>
            <a:ext cx="9374301" cy="10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537eeca99_1_22"/>
          <p:cNvSpPr txBox="1"/>
          <p:nvPr/>
        </p:nvSpPr>
        <p:spPr>
          <a:xfrm>
            <a:off x="1996094" y="1800600"/>
            <a:ext cx="47823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3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Modelo de Sustentabilidad</a:t>
            </a:r>
            <a:endParaRPr sz="33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" name="Google Shape;140;g39537eeca99_1_22"/>
          <p:cNvSpPr txBox="1"/>
          <p:nvPr/>
        </p:nvSpPr>
        <p:spPr>
          <a:xfrm>
            <a:off x="1996103" y="3810893"/>
            <a:ext cx="4782300" cy="42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open source, lo que reduce costos de licencia y facilita la escalabilidad.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Despliegue inicial en servicios de hosting gratuitos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clínica posteriormente podrá financiar el dominio y el mantenimiento para dar continuidad comercial al proyecto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g39537eeca99_1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5225" y="1654837"/>
            <a:ext cx="6977325" cy="697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537eeca99_1_27"/>
          <p:cNvSpPr txBox="1"/>
          <p:nvPr/>
        </p:nvSpPr>
        <p:spPr>
          <a:xfrm>
            <a:off x="1994244" y="2171700"/>
            <a:ext cx="47823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ES" sz="33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Modelo de Negocio</a:t>
            </a:r>
            <a:endParaRPr sz="33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g39537eeca99_1_27"/>
          <p:cNvSpPr txBox="1"/>
          <p:nvPr/>
        </p:nvSpPr>
        <p:spPr>
          <a:xfrm>
            <a:off x="1737428" y="2941818"/>
            <a:ext cx="47823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valor:</a:t>
            </a:r>
            <a:b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que reduce tiempos y errores en los procesos clínicos.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Diferenciador: Personalización completa, soporte local y bajo costo.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 generado: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Eficiencia administrativa.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Fidelización de clientes.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Reducción de costos operativos.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g39537eeca99_1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4575" y="1382563"/>
            <a:ext cx="10812875" cy="75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537eeca99_1_32"/>
          <p:cNvSpPr txBox="1"/>
          <p:nvPr/>
        </p:nvSpPr>
        <p:spPr>
          <a:xfrm>
            <a:off x="1996094" y="1746025"/>
            <a:ext cx="4782300" cy="19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3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Metodología y equipo de trabajo</a:t>
            </a:r>
            <a:endParaRPr sz="33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g39537eeca99_1_32"/>
          <p:cNvSpPr txBox="1"/>
          <p:nvPr/>
        </p:nvSpPr>
        <p:spPr>
          <a:xfrm>
            <a:off x="1996100" y="4653800"/>
            <a:ext cx="4782300" cy="20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ágil Scrum, con sprints de dos semanas.</a:t>
            </a:r>
            <a:b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Cada integrante cumple un rol definido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g39537eeca99_1_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69437" y="1886388"/>
            <a:ext cx="2008025" cy="200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9537eeca99_1_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8012" y="1820425"/>
            <a:ext cx="2139950" cy="213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9537eeca99_1_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573388" y="4696100"/>
            <a:ext cx="2008800" cy="200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9537eeca99_1_32"/>
          <p:cNvSpPr txBox="1"/>
          <p:nvPr/>
        </p:nvSpPr>
        <p:spPr>
          <a:xfrm>
            <a:off x="7459250" y="4207875"/>
            <a:ext cx="36777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Jonathan Palma – Scrum Master / Jefe de proyecto.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9537eeca99_1_32"/>
          <p:cNvSpPr txBox="1"/>
          <p:nvPr/>
        </p:nvSpPr>
        <p:spPr>
          <a:xfrm>
            <a:off x="14018625" y="4049675"/>
            <a:ext cx="35571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Sergio Valdivia – Backend y Base de Datos.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9537eeca99_1_32"/>
          <p:cNvSpPr txBox="1"/>
          <p:nvPr/>
        </p:nvSpPr>
        <p:spPr>
          <a:xfrm>
            <a:off x="10985388" y="6961175"/>
            <a:ext cx="3184800" cy="8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Renato Olivera – Frontend y Diseño UX.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537eeca99_1_37"/>
          <p:cNvSpPr txBox="1"/>
          <p:nvPr/>
        </p:nvSpPr>
        <p:spPr>
          <a:xfrm>
            <a:off x="1627901" y="4533900"/>
            <a:ext cx="5454300" cy="13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7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Desarrollo Técnico</a:t>
            </a:r>
            <a:endParaRPr sz="37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6" name="Google Shape;166;g39537eeca99_1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8500" y="1384746"/>
            <a:ext cx="4112050" cy="2793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9537eeca99_1_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11700" y="4081525"/>
            <a:ext cx="2370575" cy="237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9537eeca99_1_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40448" y="1692525"/>
            <a:ext cx="3028689" cy="217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9537eeca99_1_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97350" y="6566425"/>
            <a:ext cx="4214344" cy="237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9537eeca99_1_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926063" y="6805600"/>
            <a:ext cx="2257425" cy="20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537eeca99_1_42"/>
          <p:cNvSpPr txBox="1"/>
          <p:nvPr/>
        </p:nvSpPr>
        <p:spPr>
          <a:xfrm>
            <a:off x="1994244" y="2171700"/>
            <a:ext cx="47823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3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Cierre</a:t>
            </a:r>
            <a:endParaRPr sz="33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g39537eeca99_1_42"/>
          <p:cNvSpPr txBox="1"/>
          <p:nvPr/>
        </p:nvSpPr>
        <p:spPr>
          <a:xfrm>
            <a:off x="1994253" y="3152768"/>
            <a:ext cx="4782300" cy="3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Veterinaria Pucará busca transformar digitalmente la gestión clínica y administrativa de pequeñas clínicas veterinarias, entregando una herramienta moderna, accesible y escalable.</a:t>
            </a:r>
            <a:b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próximos pasos incluyen la validación del sistema completo con la clínica y su despliegue.</a:t>
            </a:r>
            <a:endParaRPr/>
          </a:p>
        </p:txBody>
      </p:sp>
      <p:pic>
        <p:nvPicPr>
          <p:cNvPr id="177" name="Google Shape;177;g39537eeca99_1_42" title="WhatsApp Image 2025-10-23 at 14.29.00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70150" y="1812950"/>
            <a:ext cx="6661100" cy="666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</Words>
  <Application>Microsoft Office PowerPoint</Application>
  <PresentationFormat>Personalizado</PresentationFormat>
  <Paragraphs>75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Lato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Carla Manzano V.</dc:creator>
  <cp:lastModifiedBy>SERGIO ENRIQUE VALDIVIA HERRERA</cp:lastModifiedBy>
  <cp:revision>1</cp:revision>
  <dcterms:created xsi:type="dcterms:W3CDTF">2006-08-16T00:00:00Z</dcterms:created>
  <dcterms:modified xsi:type="dcterms:W3CDTF">2025-10-24T00:44:23Z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0x010100E8AACEF6F2EFD24FA95B52027E89B974</vt:lpwstr>
  </property>
  <property fmtid="{D5CDD505-2E9C-101B-9397-08002B2CF9AE}" pid="3" name="MediaServiceImageTags">
    <vt:lpwstr/>
  </property>
</Properties>
</file>